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a246018e64e4a" /><Relationship Type="http://schemas.openxmlformats.org/officeDocument/2006/relationships/extended-properties" Target="/docProps/app.xml" Id="R14572d7c5b8f4495" /><Relationship Type="http://schemas.openxmlformats.org/officeDocument/2006/relationships/officeDocument" Target="/ppt/presentation.xml" Id="Rb8ad39936b1240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c73db7cf14258"/>
  </p:sldMasterIdLst>
  <p:notesMasterIdLst>
    <p:notesMasterId xmlns:r="http://schemas.openxmlformats.org/officeDocument/2006/relationships" r:id="Rf50f326c35e7400c"/>
  </p:notesMasterIdLst>
  <p:sldIdLst>
    <p:sldId xmlns:r="http://schemas.openxmlformats.org/officeDocument/2006/relationships" id="256" r:id="R295d66d356ae4d74"/>
    <p:sldId xmlns:r="http://schemas.openxmlformats.org/officeDocument/2006/relationships" id="257" r:id="R614d1edac9be4a6b"/>
    <p:sldId xmlns:r="http://schemas.openxmlformats.org/officeDocument/2006/relationships" id="258" r:id="Ra39e88bbd47e4fc6"/>
    <p:sldId xmlns:r="http://schemas.openxmlformats.org/officeDocument/2006/relationships" id="259" r:id="Rf392bf10f57f4238"/>
    <p:sldId xmlns:r="http://schemas.openxmlformats.org/officeDocument/2006/relationships" id="260" r:id="Rd49dfeb569b44139"/>
    <p:sldId xmlns:r="http://schemas.openxmlformats.org/officeDocument/2006/relationships" id="261" r:id="R1d3b6fea8ebb4ffa"/>
    <p:sldId xmlns:r="http://schemas.openxmlformats.org/officeDocument/2006/relationships" id="262" r:id="R4b94484244384199"/>
    <p:sldId xmlns:r="http://schemas.openxmlformats.org/officeDocument/2006/relationships" id="263" r:id="R44e42c4575a746cd"/>
    <p:sldId xmlns:r="http://schemas.openxmlformats.org/officeDocument/2006/relationships" id="264" r:id="R68909ed43e5b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603b7b4674aa1" /><Relationship Type="http://schemas.openxmlformats.org/officeDocument/2006/relationships/slideMaster" Target="/ppt/slideMasters/slideMaster1.xml" Id="R2cdc73db7cf14258" /><Relationship Type="http://schemas.openxmlformats.org/officeDocument/2006/relationships/notesMaster" Target="/ppt/notesMasters/notesMaster1.xml" Id="Rf50f326c35e7400c" /><Relationship Type="http://schemas.openxmlformats.org/officeDocument/2006/relationships/presProps" Target="/ppt/presProps.xml" Id="R9e93e896aa924fbf" /><Relationship Type="http://schemas.openxmlformats.org/officeDocument/2006/relationships/tableStyles" Target="/ppt/tableStyles.xml" Id="Rc62ca35cab7f4c44" /><Relationship Type="http://schemas.openxmlformats.org/officeDocument/2006/relationships/slide" Target="/ppt/slides/slide1.xml" Id="R295d66d356ae4d74" /><Relationship Type="http://schemas.openxmlformats.org/officeDocument/2006/relationships/slide" Target="/ppt/slides/slide2.xml" Id="R614d1edac9be4a6b" /><Relationship Type="http://schemas.openxmlformats.org/officeDocument/2006/relationships/slide" Target="/ppt/slides/slide3.xml" Id="Ra39e88bbd47e4fc6" /><Relationship Type="http://schemas.openxmlformats.org/officeDocument/2006/relationships/slide" Target="/ppt/slides/slide4.xml" Id="Rf392bf10f57f4238" /><Relationship Type="http://schemas.openxmlformats.org/officeDocument/2006/relationships/slide" Target="/ppt/slides/slide5.xml" Id="Rd49dfeb569b44139" /><Relationship Type="http://schemas.openxmlformats.org/officeDocument/2006/relationships/slide" Target="/ppt/slides/slide6.xml" Id="R1d3b6fea8ebb4ffa" /><Relationship Type="http://schemas.openxmlformats.org/officeDocument/2006/relationships/slide" Target="/ppt/slides/slide7.xml" Id="R4b94484244384199" /><Relationship Type="http://schemas.openxmlformats.org/officeDocument/2006/relationships/slide" Target="/ppt/slides/slide8.xml" Id="R44e42c4575a746cd" /><Relationship Type="http://schemas.openxmlformats.org/officeDocument/2006/relationships/slide" Target="/ppt/slides/slide9.xml" Id="R68909ed43e5b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0e0177b2747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f79c172d4b4824" /><Relationship Type="http://schemas.openxmlformats.org/officeDocument/2006/relationships/notesMaster" Target="/ppt/notesMasters/notesMaster1.xml" Id="Rdd82fe2f8fb1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3bef22f564b58" /><Relationship Type="http://schemas.openxmlformats.org/officeDocument/2006/relationships/notesMaster" Target="/ppt/notesMasters/notesMaster1.xml" Id="R8b216eb75ac543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df001d5174cd9" /><Relationship Type="http://schemas.openxmlformats.org/officeDocument/2006/relationships/notesMaster" Target="/ppt/notesMasters/notesMaster1.xml" Id="R650e0efd37b24e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0d7fec07842f8" /><Relationship Type="http://schemas.openxmlformats.org/officeDocument/2006/relationships/notesMaster" Target="/ppt/notesMasters/notesMaster1.xml" Id="R7f97ce75be894c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7172e206b44c8f" /><Relationship Type="http://schemas.openxmlformats.org/officeDocument/2006/relationships/notesMaster" Target="/ppt/notesMasters/notesMaster1.xml" Id="R8acf2020b5c7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6acf192e2648e0" /><Relationship Type="http://schemas.openxmlformats.org/officeDocument/2006/relationships/notesMaster" Target="/ppt/notesMasters/notesMaster1.xml" Id="R5adfc93d5fd443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e1b3851a846dc" /><Relationship Type="http://schemas.openxmlformats.org/officeDocument/2006/relationships/notesMaster" Target="/ppt/notesMasters/notesMaster1.xml" Id="Rcf89cd6c85b844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59e43a866f41dd" /><Relationship Type="http://schemas.openxmlformats.org/officeDocument/2006/relationships/notesMaster" Target="/ppt/notesMasters/notesMaster1.xml" Id="R30f9aba945bb4b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5afc121a094402" /><Relationship Type="http://schemas.openxmlformats.org/officeDocument/2006/relationships/notesMaster" Target="/ppt/notesMasters/notesMaster1.xml" Id="R8fcb49f32dee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a MotoHub projekt README-je és a fejlesztési dokumentáció. A címlap képe illusztráció, nem a projekt tényleges műhelyéről készült fénykép.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MotoHub README.md, munkalap és adatmodell implementáció.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Angular admin oldalak és az SQLite idegen kulcsai. A nyilak az adatkapcsolatok logikai irányát mutatják.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README.md, backend/server.js, backend/database/init.js és frontend/src/app.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backend/database/init.js és docs/adatbazis-es-er-diagram.md. Az ER-ábra elemei ezen a dián PowerPoint-alakzatokkal szerkeszthetők.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példa ellenőrző számítás: 1,5 × 12 000 = 18 000 Ft; 2 × 5 000 = 10 000 Ft; végösszeg 28 000 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backend/config/auth.js, backend/middleware/authMiddleware.js, backend/middleware/errorHandler.js, API controllerek és frontend auth guard/interceptor.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Ellenőrzés dátuma: 2026. október 5. Frontend: Angular production build sikeres, 10/10 Vitest teszt sikeres. Backend: teljes API CRUD külön ideiglenes SQLite adatbázison. A három buildfigyelmeztetés a home.css, work-orders.css és customers.css méretére vonatkozik.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felsorolt három elem továbbfejlesztési lehetőség, nem a jelenlegi változat része.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e9a2779da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33459526c4628" /><Relationship Type="http://schemas.openxmlformats.org/officeDocument/2006/relationships/slideLayout" Target="/ppt/slideLayouts/slideLayout1.xml" Id="Ref0a7b4f3561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a7b4f3561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7aed14fa14069" /><Relationship Type="http://schemas.openxmlformats.org/officeDocument/2006/relationships/image" Target="/ppt/media/image.png" Id="R984a4bcf20244ec5" /><Relationship Type="http://schemas.openxmlformats.org/officeDocument/2006/relationships/notesSlide" Target="/ppt/notesSlides/notesSlide1.xml" Id="R6b621fe89e16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105ff8c034c00" /><Relationship Type="http://schemas.openxmlformats.org/officeDocument/2006/relationships/notesSlide" Target="/ppt/notesSlides/notesSlide2.xml" Id="R8ee6b9d9d579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1fcfe3d08455e" /><Relationship Type="http://schemas.openxmlformats.org/officeDocument/2006/relationships/notesSlide" Target="/ppt/notesSlides/notesSlide3.xml" Id="Reffbaa9aba6a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e91412be84eaf" /><Relationship Type="http://schemas.openxmlformats.org/officeDocument/2006/relationships/notesSlide" Target="/ppt/notesSlides/notesSlide4.xml" Id="R25b003da93b8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061be7ee04f52" /><Relationship Type="http://schemas.openxmlformats.org/officeDocument/2006/relationships/notesSlide" Target="/ppt/notesSlides/notesSlide5.xml" Id="Redc9acecc56446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f21123d944aa" /><Relationship Type="http://schemas.openxmlformats.org/officeDocument/2006/relationships/notesSlide" Target="/ppt/notesSlides/notesSlide6.xml" Id="Rf2fee6cd609a47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ad31512f54b74" /><Relationship Type="http://schemas.openxmlformats.org/officeDocument/2006/relationships/notesSlide" Target="/ppt/notesSlides/notesSlide7.xml" Id="Rdfeeb9488d7c44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c3b7ae60f4e23" /><Relationship Type="http://schemas.openxmlformats.org/officeDocument/2006/relationships/notesSlide" Target="/ppt/notesSlides/notesSlide8.xml" Id="R02bd1c01a8a4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04cfbe7b1433e" /><Relationship Type="http://schemas.openxmlformats.org/officeDocument/2006/relationships/notesSlide" Target="/ppt/notesSlides/notesSlide9.xml" Id="R4fb193bcd2014c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a4bcf20244ec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E05DB-F831-42AF-A6FB-D6EE645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53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9A43-1142-4295-8265-73100321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61772-948F-457F-9753-3550B3D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MOTOHUB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4DE31-8152-43AA-B0CD-761503A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5381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Motorkerékpár-szerviz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adminisztrációs rendszer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F16FB-1BB8-4527-8D42-0C7A4420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5F1"/>
                </a:solidFill>
                <a:latin typeface="Arial"/>
                <a:ea typeface="Arial"/>
                <a:cs typeface="Arial"/>
              </a:rPr>
              <a:t>Vizsgaremek bemutató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23F29-F426-4152-8BEE-02439EB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386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0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C0D4"/>
                </a:solidFill>
                <a:latin typeface="Arial"/>
                <a:ea typeface="Arial"/>
                <a:cs typeface="Arial"/>
              </a:rPr>
              <a:t>Ügyfelek  ·  motorok  ·  munkalapok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8036F-11D0-49BE-87D7-395B608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4DAF4-FDBB-41E9-95EF-B4D1C3C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40995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3CCA7-DDEC-4379-BD66-296F7B4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461FF-77A3-4CC3-B700-8A943F2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A PROJEKT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AB095-4734-4C18-A22D-3293EF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 rendszer célja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43C06-F2A7-45A3-AEAE-9DFC4BB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ADADA-BA33-4538-BCD8-89ED4D2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1AA7E-FFE4-4BE5-BDD4-9C40AD21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C8C20-616D-4790-AC09-6976AB07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Egy közös felületen követhető a szerviz alapfolyamata az ügyfél rögzítésétől a munkalap lezárásáig.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78400-E05D-4C28-B941-BB0C9041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3909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61752-A0E3-4E73-A339-1354A848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64A4A-9016-4C14-A424-3F44AD1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130FE-4692-4192-B554-BAD56E8D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Nyilvántartás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E99DE-91F2-4AE0-85AA-7EE3F0E4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Ügyfelek és motorkerékpárok összekapcsolása. A motor gyártási éve és fő azonosítói is rögzíthetők.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E837A-BBD2-447C-A463-9247A01E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3909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739A0-28B7-495A-9FDB-DFF9A62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0007-0E48-4CB7-B8EA-C62BFE1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9629B-A633-4686-A165-01E149B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860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Javítás követése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CBB6-26B3-4814-AE8B-A26849E6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Munkalap, leírás és státusz. A motorhoz tartozó tulajdonos a munkalapnál is ellenőrizhető.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D4E86-27A7-47B1-BB5F-221C02B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33909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A073C-6B53-4EA7-9F84-258215C6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C5736-79C8-4772-9C50-B8CAAA49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E2C51-D680-431B-A81E-A5B9B0E1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860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Átlátható költség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3AF4C-FA0E-4601-8C24-0859164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Munkadíj és alkatrész tételek kezelése, részösszegek és munkalap végösszeg.</a:t>
            </a:r>
          </a:p>
        </p:txBody>
      </p:sp>
    </p:spTree>
    <p:extLst>
      <p:ext uri="{BB962C8B-B14F-4D97-AF65-F5344CB8AC3E}">
        <p14:creationId xmlns:p14="http://schemas.microsoft.com/office/powerpoint/2010/main" val="256078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E40D53-1834-49A2-981F-8E030CB6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0B9C2-6102-4186-9E28-189A9B3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FELHASZNÁLÓI FOLYAMAT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B6AE9-4E8F-4975-8E0F-098F3B39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 szervizfolyamat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3DFEB-B46D-4449-B4FD-02CC699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C1F67-2AC9-49EB-B5FD-3D06040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1E744-ACF5-42BF-89A7-ECE0658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2C343-1EEF-4914-AC1E-D749B0D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B2BB1-111C-4CF5-9FF7-8E22CDDF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A14F9-D3AE-4000-83AA-2838FCB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76401-AA85-4322-AAD0-5C3C097F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Ügyfél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82BFE-460C-4150-8AA6-0B57885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Kapcsolattartási adatok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98063-F218-4464-AFC7-365109FC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432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6B8C5-36E4-4908-A6BF-11FB3B8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79AF0-3DB4-452C-85D1-AA8814E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CD393-14C1-435D-9103-D9762B9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95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FBFFA-4E81-46B2-A9E9-5D47371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Motorkerékpár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2F39F-0F1A-4001-9097-1078D4C5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Tulajdonos és jármű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12469-4BF5-4B5D-A2D9-81AED47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1820C-1034-44A3-A490-412CB99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7CDEC-FE8D-40A1-BCFC-69DA59C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57DB2-E86D-42BD-8814-0D7820F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95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7DCAF-E5FD-4F4E-A795-D3A31D5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Munkalap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60685-A60F-406E-BF37-F18B24BB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9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Leírás és státusz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3A7AF-36D6-428B-B48E-49F7B79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5A31B-6FBC-4F5F-AC6A-3EFD039C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BC6F4-0413-4876-906E-EAFD824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26507-A52F-43ED-B091-FCF32E1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95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0C2C5-A441-425D-B120-BA70D810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Tételek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4E916-DDF5-4D1F-A18D-6EF7712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Munka és alkatrész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AF5FC-7908-421D-9F26-796077AF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21301-F986-461A-8E6A-00C794B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423E7-056B-41D5-A278-A992A3BA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BF5236-8AFC-47B9-9347-8DB35C9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95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ABE0CB-6FC6-4E42-A6B2-DA5697E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Áttekintés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C60DD-9B22-4812-9727-B8CED49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Részösszeg és végösszeg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ABE36-189C-446D-B398-D4A4472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9392B-55FE-4450-939E-65F43CB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 kapcsolatok végig megmaradnak az ügyfél, a motor, a munkalap és a tételek között.</a:t>
            </a:r>
          </a:p>
        </p:txBody>
      </p:sp>
    </p:spTree>
    <p:extLst>
      <p:ext uri="{BB962C8B-B14F-4D97-AF65-F5344CB8AC3E}">
        <p14:creationId xmlns:p14="http://schemas.microsoft.com/office/powerpoint/2010/main" val="1470965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2D4706-7F17-48E4-A997-2675ED21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888BC-434E-4ACB-AFF3-BE4FE916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RENDSZER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193B-E71F-462E-ACD6-DE8F7DD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Technikai felépítés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94A1D-C73F-4B45-A886-4AB1AD3C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C7BE8-88DB-4B12-9ABC-45A5ED8A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9A69F-C8B0-42F3-8FE5-B65C565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E4661-7489-4CB6-8C51-A3BC8B1E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390900" cy="35623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AA8BB-4194-43BA-A208-825AF43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390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1445A-E5A8-4D96-B27C-7214607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Angular felület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45C60-48C5-43A4-9846-003E021E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Böngészőben fut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CAB7B-D669-42E9-A86C-761CF974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479F4-6DA0-43E6-B9A2-2D1394CA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TypeScript és RxJS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A0FDA-C9CD-4871-B4F8-2BE2D56E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3C32C-F6C7-46A8-B16C-321B2E05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Admin oldalak és űrlapok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653E6-C466-48A6-B327-B9917A3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DA6DA-9394-4513-AE11-8F6F42C5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API-kliens szolgáltatások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12663-34E9-45BC-B418-CEA5B2A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41951-F3AD-4575-B9DB-9E3A84C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JWT interceptor és útvonalvédelem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FCF20-4D75-4329-A919-10215363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3390900" cy="35623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C07A3-26D0-4BE8-8BDE-209B243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3390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5F81A-4F00-4015-BFE0-CAC5A96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812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4E1C3-DB4C-4FF1-8BFB-CCE0399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03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Node.js szerver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0914A-B339-48EB-8263-CAFE73D8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243AD-2D66-412C-AA15-8E44AA6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03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REST végpontok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071B2-0271-4864-B39B-3B63479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4A426-A75E-4585-A094-59154F79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575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Controllerek és szolgáltatások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C882D-2D36-424B-B651-AC0A4FF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6C258-04E5-4C78-84F8-A01B587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147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Validáció és hibakezelés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503A4-261E-4A69-BB40-3AA70CA4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A0F26-AB7F-4AD0-AEAE-625A56E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719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JWT middleware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47F87-2F40-4518-89B4-54065F4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390900" cy="35623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49C21-79C3-49EB-9F07-C03E7E2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390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4FC6E-76AF-4DC1-AE67-0B35B57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SQLite adatbázis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9739B-0A16-4D2E-8CF9-3E015549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03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Helyi adatfájl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4849BE-F5B9-446E-8B20-13E4B1DF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8CC89E-3F39-4800-8AE5-B092D9D0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Relációs táblák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7D01E-6174-4EBB-9461-E344616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0B587-764F-4E9C-8027-A94AADD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575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Idegen kulcsok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C9E7D-33F0-40F0-8F4A-4808813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8470E-365A-4961-9CB7-9BA2BC74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147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Munkalaphoz kapcsolt tételek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85E42-114A-44AA-A807-58B8E69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A0AADF-5BF3-426E-82BF-00C7B55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719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Számított végösszeg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8C0685-97ED-4AE4-8813-51093098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19475"/>
            <a:ext cx="4000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2E397-EC35-46AF-9A36-2651998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19475"/>
            <a:ext cx="4000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C4A657-590F-442D-94D4-FCB7D408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JSON / HTTP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2EB413-FFD8-40D3-ACCB-5C30ED8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052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7E5540-4816-4EE2-B3B5-874E7B3E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 megoldás Node.js + Express + Angular + SQLite technológiákat használ. Docker és Spring Boot nincs a rendszerben.</a:t>
            </a:r>
          </a:p>
        </p:txBody>
      </p:sp>
    </p:spTree>
    <p:extLst>
      <p:ext uri="{BB962C8B-B14F-4D97-AF65-F5344CB8AC3E}">
        <p14:creationId xmlns:p14="http://schemas.microsoft.com/office/powerpoint/2010/main" val="786355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B2A289-44B6-4503-845A-EAC13CD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B10D6-0F9B-4B11-91BE-71E16B1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ADATOK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F8361-8061-4821-A336-5CADBDF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Adatmodell és kapcsolatok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23E6-8A9B-4E9B-9449-060D78C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1ED83-1726-4E5D-AAE5-EDA11255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90A67-1EA2-46E5-B09A-8B74E6C5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9DD17-A6C0-4725-8753-004946D0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48D9E-2EB2-4EC1-8E70-2EDFC0C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14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3498-78E0-439A-AFD0-1C979FBF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2353D-B0C9-4A74-9D2E-6302799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14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77157-442B-484E-8D63-B49748A6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38475"/>
            <a:ext cx="381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798C3-4E4C-4A1B-9C6A-24CBBC7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2E20B-C082-4491-899F-AAAB116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3847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53043-D71B-4B1D-B3AC-004821A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79DE8-5A06-49A5-88E7-21F2078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05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C241F-F338-4AD7-8423-7AA3900D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152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31AD9-BAFC-44F8-A2B5-C92071E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152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452FB-A2DD-43E3-BDEF-6FCEFDF0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2B556-10AC-4762-A204-DD19A44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name · phone · 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4B21C-C0AD-43CD-963A-6547B3F4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21717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506CE-897D-4BED-A171-A9AED5A2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2171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57E0C-5ACC-4033-AFD4-ECEB08B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192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motorcycles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E53C6-DF00-4386-B3C2-2E0BCD3F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43125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3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customer_id · brand · model · model_year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80B02-D7C2-4BAA-8F02-C940E4E6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A48A6-2C23-4C7B-9F11-E0C6DED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450A3-204F-44C3-BE36-3C9C59C4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1927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work_orders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2E612-2E75-4B3D-B80E-954451FB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3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motorcycle_id · status · description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E92D8-167D-48BF-95F1-78BFC40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19375"/>
            <a:ext cx="2362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32C42C-F09D-409D-87D3-E36931A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19375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47BE3-644B-439D-9262-CF4A7D9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labor_items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DC0343-C7C3-44A5-8B25-B5292993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2057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hours · hourly_rate · description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0C1F81-E124-4D44-B799-1B7706F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362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BA5743-DA08-4809-889D-9D8A09ED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D96D92-F5BD-4949-A904-5B2442D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667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part_items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67D69-66D1-4BDD-BFF2-2E8AE44F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00525"/>
            <a:ext cx="2057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quantity · unit_price · name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E30EF1-F7D8-4E75-9D7F-F71BD4EC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2152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2A7EBB-D1F5-474B-91F4-C05B1132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2152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83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25B954-10A5-48AE-BF92-B71BCF6E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admins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2528F2-3A16-4775-A6A8-D050D8B6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username · password_hash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67E8A-9C1B-44C6-B4A9-68CE1E79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401591-0001-4202-9A00-22252B33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 munkadíj- és alkatrésztételek a munkalaphoz kapcsolódnak; törléskor kaszkádosan eltávolíthatók.</a:t>
            </a:r>
          </a:p>
        </p:txBody>
      </p:sp>
    </p:spTree>
    <p:extLst>
      <p:ext uri="{BB962C8B-B14F-4D97-AF65-F5344CB8AC3E}">
        <p14:creationId xmlns:p14="http://schemas.microsoft.com/office/powerpoint/2010/main" val="80194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99907-27D6-4FD9-A85A-986CE2A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FBAA2-FA65-4EEC-9C2B-75577FC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MUNKALAP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A56A6-F4DF-4CA0-A555-427C99F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Munkalap és költségszámítás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74D08-3C68-404A-8CA3-E1BD3E3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C5FC-368A-44CC-939B-CD05837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A9A8B-7D94-4355-A022-9E3BD5C1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83508-CF80-4370-A9FD-35099F2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Minden tétel külön rögzíthető. A végösszeg a munkadíjak és az alkatrészek összegéből áll.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E5498-2A07-459B-89F6-9AC3BA78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4705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C9F92-5A20-4F11-8BFA-B721B424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BA06D-238E-49AB-ABDC-CC030A68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Munkadíj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FDB40-BC2D-400F-91A2-9BFDB18D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1,5 óra × 12 000 Ft / óra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4F4C5-B2B4-44A3-B12E-A254BAC7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18 000 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D950A-D045-4256-8594-0502051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058D3-0D2D-4ECF-B7AB-5BC3B633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Alkatrész  •  2 db × 5 000 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447C0-56E0-4C28-A9A0-FEE71F8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5A7D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A7D9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FCB78-2292-4699-8B61-A8F7DEA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5295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B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3AC48-29FA-43BE-AD64-10AF520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8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8F4"/>
                </a:solidFill>
                <a:latin typeface="Arial"/>
                <a:ea typeface="Arial"/>
                <a:cs typeface="Arial"/>
              </a:rPr>
              <a:t>Munkalap végösszeg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19F9F-2B6B-498D-BDA7-7E86717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4"/>
                </a:solidFill>
                <a:latin typeface="Arial"/>
                <a:ea typeface="Arial"/>
                <a:cs typeface="Arial"/>
              </a:rPr>
              <a:t>18 000 Ft + 10 000 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D7532-B35F-4381-B193-07B46F83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28 000 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2E36F-8232-408B-9996-4DCED752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3D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3D7"/>
                </a:solidFill>
                <a:latin typeface="Arial"/>
                <a:ea typeface="Arial"/>
                <a:cs typeface="Arial"/>
              </a:rPr>
              <a:t>Munkadíj részösszeg  +  alkatrész részösszeg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326FD-4AE1-4A2A-A61C-73945F4F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Az összegek a tételek mezőiből számítódnak, a végösszeg külön adatbázismezőként nincs eltárolva.</a:t>
            </a:r>
          </a:p>
        </p:txBody>
      </p:sp>
    </p:spTree>
    <p:extLst>
      <p:ext uri="{BB962C8B-B14F-4D97-AF65-F5344CB8AC3E}">
        <p14:creationId xmlns:p14="http://schemas.microsoft.com/office/powerpoint/2010/main" val="1578185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DCFFA-FFD0-4421-BF8D-063BB59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AA86B-8C07-4356-9346-25820B48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BIZTONSÁG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FD6FD-7E8F-4C28-8154-C8DEA6EC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Hitelesítés és adatellenőrzés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5FA7F-920D-4ED6-910D-42D5269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4277A-557E-42D8-9B2E-104116D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F0D6D-A901-49C7-ABFC-1BB58CD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12AED-86C8-4713-B9A4-D9D80C0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3909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E9B83-E4B4-45CD-A992-2BA9879D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B9D21-3766-48A6-837F-6D018E72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14FB2-C1A2-41A7-8F03-6CEA337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288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JWT hozzáférés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0A5BE-FE16-4126-8701-02D838D9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337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Bejelentkezés után aláírt token kerül a védett API-kérések Bearer fejlécébe. Az admin útvonalakat guard védi.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4BB29-5718-45B3-BF0E-9EEC2A2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33909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80067-C0B5-4F69-8D76-74D360A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75BAF-40FE-44F0-869E-B6263AD3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C74F9-0D25-45E7-A6D8-2EED9A4F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288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Jelszóvédelem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9BA23-4104-4F1F-B58C-69F9D8D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9337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 jelszót bcrypt hash tárolja. A jelszócsere ellenőrzi a jelenlegi jelszót és az új jelszó hosszát.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A5BB9-BD4E-47C4-9A26-A00BDCA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3909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A7DCA-B7AC-4A6A-A0BD-874CDAC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2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5DD84-201D-4271-A0BB-E42E2CF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B5279-1A1E-4D5A-99D8-73F0D52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288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Validáció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AE893-C089-47C1-A024-CB4C7F6C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9337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Kötelező mezők, e-mail formátum, státuszok, azonosítók és pozitív mennyiségek ellenőrzése.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DDB5D-3F8C-43BD-A755-9C413B3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Egységes JSON hibaválaszok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7FD04-E327-4E02-947A-AEB1CF2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038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47C72-FF3A-4D8C-80A6-56C0441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3891C-4A86-479D-B5FF-151DEB9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62575"/>
            <a:ext cx="1257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hibás bemenet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E511A-7554-4BA0-8796-F339155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19700"/>
            <a:ext cx="2038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321F8-CDE8-4CBC-BB31-356118E6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53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948B5-8BE8-4C31-A9AA-0B2A0A02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62575"/>
            <a:ext cx="1257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nincs érvényes token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F5801-E011-4E06-95D1-94A7E3D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2038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29BD4-0E36-4571-8164-7B16FA8C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F0528C-A1AD-4C59-96A5-194EE88A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62575"/>
            <a:ext cx="1257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nem található elem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8B617-07BE-47FA-80C4-16F9ED6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9700"/>
            <a:ext cx="2038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EF96C-C1FE-43A2-A0A2-B15C519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53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16C77-7896-45A2-991B-43C60436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62575"/>
            <a:ext cx="1257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túl nagy kérés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0C29A2-6164-4F43-AD4D-7CE2D5A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2038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21276-3FE7-462E-BEC8-78F3217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53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C2928F-E44A-43E9-829E-94B6A188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62575"/>
            <a:ext cx="1257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9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váratlan szerverhiba</a:t>
            </a:r>
          </a:p>
        </p:txBody>
      </p:sp>
    </p:spTree>
    <p:extLst>
      <p:ext uri="{BB962C8B-B14F-4D97-AF65-F5344CB8AC3E}">
        <p14:creationId xmlns:p14="http://schemas.microsoft.com/office/powerpoint/2010/main" val="603845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80C0A-8354-4D44-9834-8060D846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A1D5F-3F8C-4D4F-B0B5-66858327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TESZTELÉS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D46D7-87FE-4925-8CBD-DE4EEB9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Ellenőrzött működés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ACDFD-0FB3-474C-B252-5B3620B0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E65E3-F06E-4B69-A5D9-707D6B1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MotoHub  /  Vizsgaremek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5876D-1F9A-4B32-ABAA-0EDC36E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65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71CC6-7C9F-4C85-B0CB-D4A7B720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3909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01B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3A31E-FEAE-4D0A-8ED4-B219D67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F6D65-94E6-4890-9347-F26E703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 teszt sikeres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ACA4A-E8C6-4271-95A5-21D6891A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CD0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E1"/>
                </a:solidFill>
                <a:latin typeface="Arial"/>
                <a:ea typeface="Arial"/>
                <a:cs typeface="Arial"/>
              </a:rPr>
              <a:t>10 tesztfájlban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FA67F-9A91-4A5E-9C25-544E11F2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731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E1EF1-431A-4CA3-A1D1-A66B55A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19BEC-4A85-43F4-9DFC-BA937C41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430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58436-ED9D-4038-AA02-3DB08146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9072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Sikeres Angular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1B0C7-0B1B-4EC5-B19C-BED8366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731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99DFE-C180-475D-9098-840FBCE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0DEB3-1C63-4284-BFAE-2B777D7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47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API CRUD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FAEB9-B4F9-4076-936C-FE71A50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9557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Ügyfél, motor, munkalap és tételek teljes CRUD-ja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6B147-15D3-48E0-BBB1-80052EC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28950"/>
            <a:ext cx="731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BC59A-2339-4E45-88B7-E5B44E54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23146-54E5-4820-A696-96F23D9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Hitelesítés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34C71-58D6-4BA1-809D-FDD4C478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JWT login és védett végpont ellenőrizve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8C24B-CAEE-40CD-8EC4-665A9548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33800"/>
            <a:ext cx="731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6429C-B95D-4BF8-A24B-9CEFA8A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401F1-0D27-4838-B2B3-75C9170E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Adatmegőrzés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CEB84-B6C7-43DE-90EE-4E5FBFF5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0527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Gyártási év és kapcsolatok ellenőrizve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774F6-14CC-4342-9DF3-85A917B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731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65C7A-26C5-4CDF-A698-781091A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0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CC68E-08D4-4150-9E3E-849EBAE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B2B"/>
                </a:solidFill>
                <a:latin typeface="Arial"/>
                <a:ea typeface="Arial"/>
                <a:cs typeface="Arial"/>
              </a:rPr>
              <a:t>Elszigetelés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A3F61-774D-49AF-A0D1-CD6BB9FF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API-próba ideiglenes SQLite fájlon futott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BBC5B-99A1-4FBC-BB79-628FF60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1163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Megjegyzés: a build három CSS-méretfigyelmeztetést jelez, de sikeres. A mobilnézet kódját forrás alapján ellenőriztük; külön eszközön végzett vizuális próba még hátravan.</a:t>
            </a:r>
          </a:p>
        </p:txBody>
      </p:sp>
    </p:spTree>
    <p:extLst>
      <p:ext uri="{BB962C8B-B14F-4D97-AF65-F5344CB8AC3E}">
        <p14:creationId xmlns:p14="http://schemas.microsoft.com/office/powerpoint/2010/main" val="533358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D4DC0-D7FB-4F74-9697-EE9C2FD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89AE-8BCB-4A84-BFEC-206928EC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MOTOHUB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C67F3-A465-449A-9CCD-E021B99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szervizfolyamat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egy helyen követhető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67BAE-E584-4F65-9D11-209CD26A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6D7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7E6"/>
                </a:solidFill>
                <a:latin typeface="Arial"/>
                <a:ea typeface="Arial"/>
                <a:cs typeface="Arial"/>
              </a:rPr>
              <a:t>Ügyféltől a motoron át a munkalapig, majd a tételekig és a végösszegig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ED8D0-1B19-4C8F-B199-CF5A7B8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36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9C726-98D4-44BB-A306-2F3B60D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2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B25B"/>
                </a:solidFill>
                <a:latin typeface="Arial"/>
                <a:ea typeface="Arial"/>
                <a:cs typeface="Arial"/>
              </a:rPr>
              <a:t>További fejlesztési lehetőségek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F0992-AB21-4516-B180-E5F19B1E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8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96F31-1D8B-4A13-A7B1-5B12234B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Munkalap nyomtatás vagy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0A199-E7B7-48EA-8516-965D1DD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5775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8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D9706-756F-4E9E-A45A-16CCA11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Alkatrészkészlet kezelése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38AA1-CF14-4402-A416-9AF14D0D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8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8460F-5D84-404D-A996-3F9AC9BC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9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 eszközön végzett vizuális próba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A81D4-41F1-4B1E-87D2-68DB0D0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7E6"/>
                </a:solidFill>
                <a:latin typeface="Arial"/>
                <a:ea typeface="Arial"/>
                <a:cs typeface="Arial"/>
              </a:rPr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1582216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2026-10-05T18:08:57.7890000Z</dcterms:created>
  <dcterms:modified xsi:type="dcterms:W3CDTF">2026-10-05T18:08:57.7890000Z</dcterms:modified>
</coreProperties>
</file>